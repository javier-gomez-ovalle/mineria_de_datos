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(1 min). Presento un proyecto académico de Minería de Datos con la metodología CRISP-DM. El problema es la toma de cuentas (Account Takeover): alguien usa credenciales legítimas, lo que se relaciona con la técnica T1078 Valid Accounts de MITRE ATT&amp;CK. Estudiamos dos vectores: fuerza bruta, con ráfagas de intentos fallidos, y viaje imposible, con accesos desde ubicaciones difíciles de conciliar. El escenario hospitalario es una simulación: el RBA es un dataset sintético y los empleados los generamos nosotros. Hoy muestro cómo preparamos y describimos los datos antes de modelar; no presento un modelo entrenado.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(1,5 min). [Observado] Integramos tres fuentes tabulares: el RBA, con los eventos de autenticación y el objetivo Is Account Takeover; el catálogo de IPinfo, que da país y ASN por rango de IP; y un maestro de empleados sintético con rol, turno, país y estado de cuenta. El resultado es un dataset donde una fila es un evento de autenticación: 57.420 eventos, 35 columnas, 2.000 usuarios, validado en el EDA. [Importante] Los empleados, turnos y estados de cuenta son supuestos sintéticos, no estadísticas del sector salud. Si preguntan por qué unir fuentes: el profesor pidió integrar datasets independientes.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 min). [Decisión de diseño] Con una clase tan rara, un muestreo aleatorio puede dejar cero ATO, así que incluimos los usuarios con ATO que cumplen un mínimo de 15 eventos y completamos con usuarios sin ATO. Usar el objetivo para elegir usuarios no es fuga, pero hace que la proporción de ATO no sea la real. Dividimos entrenamiento y prueba por usuario para que nadie aparezca en ambos; el EDA lo comprobó sobre la partición reconstruida, no sobre los CSV exportados, que no conservan User ID. El objetivo se retira antes de calcular las variables. Los faltantes con significado, como el primer acceso de un usuario, no se rellenan con cero. [Observado en M2] El sobremuestreo hizo que 46.523 filas positivas de entrenamiento sean solo 36 patrones distintos, con hasta 1.390 copias: no son ataques independientes. Por eso la evaluación futura se hará solo con la prueba, sin sobremuestrear.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(1,5 min). [Observado] Hay 45 eventos ATO frente a 57.375 no ATO, es decir 0,078 %. Es una muestra enriquecida: no representa la prevalencia real. En M1 se ve que el entrenamiento quedó 50/50 tras el sobremuestreo y la prueba conserva 9 positivos. [Interpretación] Con tan pocos positivos, cualquier métrica futura será muy sensible a cada caso. NOTA PARA MÍ SOBRE USUARIOS: recalculé en el dataset final 44 usuarios con ATO (45 eventos; un usuario tiene 2). Un diagnóstico previo reportaba 43 usuarios ATO elegibles y no tengo ese registro para conciliarlo. Por eso en la lámina uso solo el conteo de eventos, confirmado, y recorté el panel de eventos de D1, que en su panel derecho mostraba el conteo por usuarios. Si preguntan, digo que es una discrepancia 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 min). [Observado en D4] Con al menos un fallo previo en 15 minutos hay 7 de 45 eventos ATO y 5.907 de 57.375 no ATO. [Observado en D6] Fuera de turno: 29 de 45 ATO (64,4 %) frente a 34.736 de 57.375 no ATO (60,5 %). País distinto al de residencia sintético: 35 de 45 ATO (77,8 %) frente a 78,6 % en no ATO. Viaje imposible detectado: 0 de 45 ATO y 9 no ATO. Cuenta inactiva con acceso exitoso: 3 de 45 ATO. [Interpretación] Estas variables, con estas definiciones y estos datos sintéticos, casi no separan las clases; las figuras mismas advierten que son diferencias descriptivas y no concluyentes. No digo que las señales no sirvan: digo que en esta muestra no se ve separación. Dato de contexto: Is Attack IP tiene 0 de 45 ATO con la bandera activa, y su validez como señal está pendiente de revisar; no afirmo fuga.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(2 min). [Observado en D3] Solo 6.811 de 57.420 eventos permiten evaluar el movimiento respecto al acceso anterior (11,9 %). El país más frecuente en Country es NO, con cerca del 79 % de los eventos, y no está en el diccionario de centroides; el informe del EDA deja la causa de las ausencias como no determinada, así que lo presento como coherente con la baja cobertura, no como demostrado. [Observado en D9] La actividad se concentra entre las 06 y las 21 UTC; con 45 ATO no se puede afirmar un patrón horario. Además, según la documentación del RBA las marcas de tiempo son sintéticas, y los turnos que asignamos también. [Interpretación] Que casi no haya viajes imposibles detectados puede deberse a la falta de cobertura y no a que no haya ataques; los casos no evaluables no son normales.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(3 min, unos 35 s por árbol). Aclaro primero: estos cinco árboles son ilustraciones didácticas del razonamiento de un analista; no son modelos entrenados ni salen de los datos. Árbol 1, fuerza bruta: el umbral de 3 intentos es ilustrativo, no validado. Árbol 2, ubicación: tiene una rama explícita de información insuficiente porque no evaluable no es lo mismo que normal, y solo el 11,9 % de los eventos es evaluable. Árbol 3, IP: que no haya bandera no significa ausencia de riesgo; en los datos, 0 de 45 ATO tenían Is Attack IP activa, y la validez de esa variable está pendiente; no afirmo fuga. Árbol 4, horario: horas en UTC y turnos sintéticos, sin variable de horario habitual individual, y la señal casi no separa clases. Árbol 5, señales combinadas: la motivación es un análisis descriptivo ADICIONAL al EDA con seis señales: 7 de 45 ATO (15,6 %) tienen 3 señales frente a 5.081 de 57.375 no ATO (8,9 %). Son 7 eventos y dos de las señales son frecuentes en ambas clases: no demuestra capacidad predictiva. Los cinco PNG están también como archivos sueltos de respaldo.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(1,5 min). Cierro con las limitaciones. Los datos son sintéticos, así que nada de esto es evidencia de eficacia clínica ni de rendimiento en producción. Hay solo 45 eventos ATO y 9 en la prueba, por lo que cualquier métrica sería muy sensible. El entrenamiento contiene 36 patrones positivos repetidos por el sobremuestreo. La validez de Is Attack IP está pendiente de revisión conceptual; no afirmo fuga. Las horas están en UTC y los turnos son sintéticos, y la cobertura geográfica es de 11,9 %. Lo que sí logramos: una preparación sin fuga evidente, trazable y documentada, y un EDA que muestra con honestidad lo que los datos permiten y no permiten decir. El siguiente paso es la Fase 4: modelar con un árbol de decisión, evaluar solo en la prueba sin sobremuestreo y reportar recall y F1 con cautela.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39441"/>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1B2430"/>
                </a:solidFill>
                <a:latin typeface="Helvetica Neue" pitchFamily="34" charset="0"/>
                <a:ea typeface="Helvetica Neue" pitchFamily="34" charset="-122"/>
                <a:cs typeface="Helvetica Neu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1B2430"/>
                </a:solidFill>
                <a:latin typeface="Helvetica Neue" pitchFamily="34" charset="0"/>
                <a:ea typeface="Helvetica Neue" pitchFamily="34" charset="-122"/>
                <a:cs typeface="Helvetica Neue"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39441"/>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1B2430"/>
                </a:solidFill>
                <a:latin typeface="Helvetica Neue" pitchFamily="34" charset="0"/>
                <a:ea typeface="Helvetica Neue" pitchFamily="34" charset="-122"/>
                <a:cs typeface="Helvetica Neu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1B2430"/>
                </a:solidFill>
                <a:latin typeface="Helvetica Neue" pitchFamily="34" charset="0"/>
                <a:ea typeface="Helvetica Neue" pitchFamily="34" charset="-122"/>
                <a:cs typeface="Helvetica Neue"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sp>
        <p:nvSpPr>
          <p:cNvPr id="2" name="Text 0"/>
          <p:cNvSpPr/>
          <p:nvPr/>
        </p:nvSpPr>
        <p:spPr>
          <a:xfrm>
            <a:off x="812800" y="6096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B27A"/>
                </a:solidFill>
                <a:latin typeface="Helvetica Neue" pitchFamily="34" charset="0"/>
                <a:ea typeface="Helvetica Neue" pitchFamily="34" charset="-122"/>
                <a:cs typeface="Helvetica Neue" pitchFamily="34" charset="-120"/>
              </a:rPr>
              <a:t>PROYECTO ACADÉMICO · MINERÍA DE DATOS · CRISP-DM</a:t>
            </a:r>
            <a:endParaRPr lang="en-US" sz="1400" dirty="0"/>
          </a:p>
        </p:txBody>
      </p:sp>
      <p:sp>
        <p:nvSpPr>
          <p:cNvPr id="3" name="Text 1"/>
          <p:cNvSpPr/>
          <p:nvPr>
            <p:ph type="title"/>
          </p:nvPr>
        </p:nvSpPr>
        <p:spPr>
          <a:xfrm>
            <a:off x="812800" y="1087041"/>
            <a:ext cx="10883392" cy="1122561"/>
          </a:xfrm>
          <a:prstGeom prst="rect">
            <a:avLst/>
          </a:prstGeom>
          <a:noFill/>
          <a:ln/>
        </p:spPr>
        <p:txBody>
          <a:bodyPr wrap="square" lIns="0" tIns="0" rIns="0" bIns="0" rtlCol="0" anchor="t">
            <a:normAutofit/>
          </a:bodyPr>
          <a:lstStyle/>
          <a:p>
            <a:pPr algn="l" indent="0" marL="0">
              <a:lnSpc>
                <a:spcPts val="4320"/>
              </a:lnSpc>
              <a:buNone/>
            </a:pPr>
            <a:r>
              <a:rPr lang="en-US" sz="4000" b="1" i="0" dirty="0">
                <a:solidFill>
                  <a:srgbClr val="F7F6F2"/>
                </a:solidFill>
                <a:latin typeface="Helvetica Neue" pitchFamily="34" charset="0"/>
                <a:ea typeface="Helvetica Neue" pitchFamily="34" charset="-122"/>
                <a:cs typeface="Helvetica Neue" pitchFamily="34" charset="-120"/>
              </a:rPr>
              <a:t>Detección de toma de cuentas (Account Takeover) en un hospital simulado</a:t>
            </a:r>
            <a:endParaRPr lang="en-US" sz="4000" dirty="0"/>
          </a:p>
        </p:txBody>
      </p:sp>
      <p:sp>
        <p:nvSpPr>
          <p:cNvPr id="4" name="Shape 2"/>
          <p:cNvSpPr/>
          <p:nvPr/>
        </p:nvSpPr>
        <p:spPr>
          <a:xfrm>
            <a:off x="815975" y="2415977"/>
            <a:ext cx="5175250" cy="1057771"/>
          </a:xfrm>
          <a:prstGeom prst="roundRect">
            <a:avLst>
              <a:gd name="adj" fmla="val 9305"/>
            </a:avLst>
          </a:prstGeom>
          <a:solidFill>
            <a:srgbClr val="263445"/>
          </a:solidFill>
          <a:ln w="6350">
            <a:solidFill>
              <a:srgbClr val="3A4A5E"/>
            </a:solidFill>
            <a:prstDash val="solid"/>
          </a:ln>
        </p:spPr>
      </p:sp>
      <p:sp>
        <p:nvSpPr>
          <p:cNvPr id="5" name="Text 3"/>
          <p:cNvSpPr/>
          <p:nvPr/>
        </p:nvSpPr>
        <p:spPr>
          <a:xfrm>
            <a:off x="1047750" y="2647752"/>
            <a:ext cx="485305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Helvetica Neue" pitchFamily="34" charset="0"/>
                <a:ea typeface="Helvetica Neue" pitchFamily="34" charset="-122"/>
                <a:cs typeface="Helvetica Neue" pitchFamily="34" charset="-120"/>
              </a:rPr>
              <a:t>Fuerza bruta</a:t>
            </a:r>
            <a:endParaRPr lang="en-US" sz="1800" dirty="0"/>
          </a:p>
        </p:txBody>
      </p:sp>
      <p:sp>
        <p:nvSpPr>
          <p:cNvPr id="6" name="Text 4"/>
          <p:cNvSpPr/>
          <p:nvPr/>
        </p:nvSpPr>
        <p:spPr>
          <a:xfrm>
            <a:off x="1047750" y="3010892"/>
            <a:ext cx="4853051"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7F6F2"/>
                </a:solidFill>
                <a:latin typeface="Helvetica Neue" pitchFamily="34" charset="0"/>
                <a:ea typeface="Helvetica Neue" pitchFamily="34" charset="-122"/>
                <a:cs typeface="Helvetica Neue" pitchFamily="34" charset="-120"/>
              </a:rPr>
              <a:t>Ráfagas de intentos fallidos de inicio de sesión</a:t>
            </a:r>
            <a:endParaRPr lang="en-US" sz="1400" dirty="0"/>
          </a:p>
        </p:txBody>
      </p:sp>
      <p:sp>
        <p:nvSpPr>
          <p:cNvPr id="7" name="Shape 5"/>
          <p:cNvSpPr/>
          <p:nvPr/>
        </p:nvSpPr>
        <p:spPr>
          <a:xfrm>
            <a:off x="6200775" y="2415977"/>
            <a:ext cx="5175250" cy="1057771"/>
          </a:xfrm>
          <a:prstGeom prst="roundRect">
            <a:avLst>
              <a:gd name="adj" fmla="val 9305"/>
            </a:avLst>
          </a:prstGeom>
          <a:solidFill>
            <a:srgbClr val="263445"/>
          </a:solidFill>
          <a:ln w="6350">
            <a:solidFill>
              <a:srgbClr val="3A4A5E"/>
            </a:solidFill>
            <a:prstDash val="solid"/>
          </a:ln>
        </p:spPr>
      </p:sp>
      <p:sp>
        <p:nvSpPr>
          <p:cNvPr id="8" name="Text 6"/>
          <p:cNvSpPr/>
          <p:nvPr/>
        </p:nvSpPr>
        <p:spPr>
          <a:xfrm>
            <a:off x="6432550" y="2647752"/>
            <a:ext cx="485305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Helvetica Neue" pitchFamily="34" charset="0"/>
                <a:ea typeface="Helvetica Neue" pitchFamily="34" charset="-122"/>
                <a:cs typeface="Helvetica Neue" pitchFamily="34" charset="-120"/>
              </a:rPr>
              <a:t>Viaje imposible</a:t>
            </a:r>
            <a:endParaRPr lang="en-US" sz="1800" dirty="0"/>
          </a:p>
        </p:txBody>
      </p:sp>
      <p:sp>
        <p:nvSpPr>
          <p:cNvPr id="9" name="Text 7"/>
          <p:cNvSpPr/>
          <p:nvPr/>
        </p:nvSpPr>
        <p:spPr>
          <a:xfrm>
            <a:off x="6432550" y="3010892"/>
            <a:ext cx="4853051"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7F6F2"/>
                </a:solidFill>
                <a:latin typeface="Helvetica Neue" pitchFamily="34" charset="0"/>
                <a:ea typeface="Helvetica Neue" pitchFamily="34" charset="-122"/>
                <a:cs typeface="Helvetica Neue" pitchFamily="34" charset="-120"/>
              </a:rPr>
              <a:t>Accesos desde ubicaciones difíciles de conciliar</a:t>
            </a:r>
            <a:endParaRPr lang="en-US" sz="1400" dirty="0"/>
          </a:p>
        </p:txBody>
      </p:sp>
      <p:sp>
        <p:nvSpPr>
          <p:cNvPr id="10" name="Text 8"/>
          <p:cNvSpPr/>
          <p:nvPr/>
        </p:nvSpPr>
        <p:spPr>
          <a:xfrm>
            <a:off x="812800" y="3705523"/>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5D9DF"/>
                </a:solidFill>
                <a:latin typeface="Helvetica Neue" pitchFamily="34" charset="0"/>
                <a:ea typeface="Helvetica Neue" pitchFamily="34" charset="-122"/>
                <a:cs typeface="Helvetica Neue" pitchFamily="34" charset="-120"/>
              </a:rPr>
              <a:t>Todos los datos son sintéticos: no hay pacientes, empleados ni infraestructura reales.</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0CB"/>
                </a:solidFill>
                <a:latin typeface="Helvetica Neue" pitchFamily="34" charset="0"/>
                <a:ea typeface="Helvetica Neue" pitchFamily="34" charset="-122"/>
                <a:cs typeface="Helvetica Neue" pitchFamily="34" charset="-120"/>
              </a:rPr>
              <a:t>Pitch Minería de Datos · CRISP-DM · 1/8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A00"/>
                </a:solidFill>
                <a:latin typeface="Helvetica Neue" pitchFamily="34" charset="0"/>
                <a:ea typeface="Helvetica Neue" pitchFamily="34" charset="-122"/>
                <a:cs typeface="Helvetica Neue" pitchFamily="34" charset="-120"/>
              </a:rPr>
              <a:t>OBSERVADO</a:t>
            </a:r>
            <a:endParaRPr lang="en-US" sz="1400" dirty="0"/>
          </a:p>
        </p:txBody>
      </p:sp>
      <p:sp>
        <p:nvSpPr>
          <p:cNvPr id="3" name="Text 1"/>
          <p:cNvSpPr/>
          <p:nvPr>
            <p:ph type="title"/>
          </p:nvPr>
        </p:nvSpPr>
        <p:spPr>
          <a:xfrm>
            <a:off x="812800" y="1239441"/>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2430"/>
                </a:solidFill>
                <a:latin typeface="Helvetica Neue" pitchFamily="34" charset="0"/>
                <a:ea typeface="Helvetica Neue" pitchFamily="34" charset="-122"/>
                <a:cs typeface="Helvetica Neue" pitchFamily="34" charset="-120"/>
              </a:rPr>
              <a:t>Tres fuentes, un dataset por evento</a:t>
            </a:r>
            <a:endParaRPr lang="en-US" sz="2800" dirty="0"/>
          </a:p>
        </p:txBody>
      </p:sp>
      <p:sp>
        <p:nvSpPr>
          <p:cNvPr id="4" name="Shape 2"/>
          <p:cNvSpPr/>
          <p:nvPr/>
        </p:nvSpPr>
        <p:spPr>
          <a:xfrm>
            <a:off x="815975" y="1811536"/>
            <a:ext cx="3397250" cy="1519932"/>
          </a:xfrm>
          <a:prstGeom prst="roundRect">
            <a:avLst>
              <a:gd name="adj" fmla="val 6476"/>
            </a:avLst>
          </a:prstGeom>
          <a:solidFill>
            <a:srgbClr val="FFFFFF"/>
          </a:solidFill>
          <a:ln w="6350">
            <a:solidFill>
              <a:srgbClr val="DDD9CF"/>
            </a:solidFill>
            <a:prstDash val="solid"/>
          </a:ln>
        </p:spPr>
      </p:sp>
      <p:sp>
        <p:nvSpPr>
          <p:cNvPr id="5" name="Text 3"/>
          <p:cNvSpPr/>
          <p:nvPr/>
        </p:nvSpPr>
        <p:spPr>
          <a:xfrm>
            <a:off x="1047750" y="2043311"/>
            <a:ext cx="302171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0"/>
                </a:solidFill>
                <a:latin typeface="Helvetica Neue" pitchFamily="34" charset="0"/>
                <a:ea typeface="Helvetica Neue" pitchFamily="34" charset="-122"/>
                <a:cs typeface="Helvetica Neue" pitchFamily="34" charset="-120"/>
              </a:rPr>
              <a:t>RBA</a:t>
            </a:r>
            <a:endParaRPr lang="en-US" sz="1800" dirty="0"/>
          </a:p>
        </p:txBody>
      </p:sp>
      <p:sp>
        <p:nvSpPr>
          <p:cNvPr id="6" name="Text 4"/>
          <p:cNvSpPr/>
          <p:nvPr/>
        </p:nvSpPr>
        <p:spPr>
          <a:xfrm>
            <a:off x="1047750" y="2406452"/>
            <a:ext cx="3021711" cy="71864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B2430"/>
                </a:solidFill>
                <a:latin typeface="Helvetica Neue" pitchFamily="34" charset="0"/>
                <a:ea typeface="Helvetica Neue" pitchFamily="34" charset="-122"/>
                <a:cs typeface="Helvetica Neue" pitchFamily="34" charset="-120"/>
              </a:rPr>
              <a:t>Eventos de autenticación (sintético). Incluye el objetivo Is Account Takeover.</a:t>
            </a:r>
            <a:endParaRPr lang="en-US" sz="1400" dirty="0"/>
          </a:p>
        </p:txBody>
      </p:sp>
      <p:sp>
        <p:nvSpPr>
          <p:cNvPr id="7" name="Shape 5"/>
          <p:cNvSpPr/>
          <p:nvPr/>
        </p:nvSpPr>
        <p:spPr>
          <a:xfrm>
            <a:off x="4397375" y="1811536"/>
            <a:ext cx="3397250" cy="1519932"/>
          </a:xfrm>
          <a:prstGeom prst="roundRect">
            <a:avLst>
              <a:gd name="adj" fmla="val 6476"/>
            </a:avLst>
          </a:prstGeom>
          <a:solidFill>
            <a:srgbClr val="FFFFFF"/>
          </a:solidFill>
          <a:ln w="6350">
            <a:solidFill>
              <a:srgbClr val="DDD9CF"/>
            </a:solidFill>
            <a:prstDash val="solid"/>
          </a:ln>
        </p:spPr>
      </p:sp>
      <p:sp>
        <p:nvSpPr>
          <p:cNvPr id="8" name="Text 6"/>
          <p:cNvSpPr/>
          <p:nvPr/>
        </p:nvSpPr>
        <p:spPr>
          <a:xfrm>
            <a:off x="4629150" y="2043311"/>
            <a:ext cx="302171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0"/>
                </a:solidFill>
                <a:latin typeface="Helvetica Neue" pitchFamily="34" charset="0"/>
                <a:ea typeface="Helvetica Neue" pitchFamily="34" charset="-122"/>
                <a:cs typeface="Helvetica Neue" pitchFamily="34" charset="-120"/>
              </a:rPr>
              <a:t>IPinfo</a:t>
            </a:r>
            <a:endParaRPr lang="en-US" sz="1800" dirty="0"/>
          </a:p>
        </p:txBody>
      </p:sp>
      <p:sp>
        <p:nvSpPr>
          <p:cNvPr id="9" name="Text 7"/>
          <p:cNvSpPr/>
          <p:nvPr/>
        </p:nvSpPr>
        <p:spPr>
          <a:xfrm>
            <a:off x="4629150" y="2406452"/>
            <a:ext cx="3021711"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B2430"/>
                </a:solidFill>
                <a:latin typeface="Helvetica Neue" pitchFamily="34" charset="0"/>
                <a:ea typeface="Helvetica Neue" pitchFamily="34" charset="-122"/>
                <a:cs typeface="Helvetica Neue" pitchFamily="34" charset="-120"/>
              </a:rPr>
              <a:t>País y ASN por rango de IP. Solo enriquecimiento.</a:t>
            </a:r>
            <a:endParaRPr lang="en-US" sz="1400" dirty="0"/>
          </a:p>
        </p:txBody>
      </p:sp>
      <p:sp>
        <p:nvSpPr>
          <p:cNvPr id="10" name="Shape 8"/>
          <p:cNvSpPr/>
          <p:nvPr/>
        </p:nvSpPr>
        <p:spPr>
          <a:xfrm>
            <a:off x="7978775" y="1811536"/>
            <a:ext cx="3397250" cy="1519932"/>
          </a:xfrm>
          <a:prstGeom prst="roundRect">
            <a:avLst>
              <a:gd name="adj" fmla="val 6476"/>
            </a:avLst>
          </a:prstGeom>
          <a:solidFill>
            <a:srgbClr val="FFFFFF"/>
          </a:solidFill>
          <a:ln w="6350">
            <a:solidFill>
              <a:srgbClr val="DDD9CF"/>
            </a:solidFill>
            <a:prstDash val="solid"/>
          </a:ln>
        </p:spPr>
      </p:sp>
      <p:sp>
        <p:nvSpPr>
          <p:cNvPr id="11" name="Text 9"/>
          <p:cNvSpPr/>
          <p:nvPr/>
        </p:nvSpPr>
        <p:spPr>
          <a:xfrm>
            <a:off x="8210550" y="2043311"/>
            <a:ext cx="302171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0"/>
                </a:solidFill>
                <a:latin typeface="Helvetica Neue" pitchFamily="34" charset="0"/>
                <a:ea typeface="Helvetica Neue" pitchFamily="34" charset="-122"/>
                <a:cs typeface="Helvetica Neue" pitchFamily="34" charset="-120"/>
              </a:rPr>
              <a:t>Empleados</a:t>
            </a:r>
            <a:endParaRPr lang="en-US" sz="1800" dirty="0"/>
          </a:p>
        </p:txBody>
      </p:sp>
      <p:sp>
        <p:nvSpPr>
          <p:cNvPr id="12" name="Text 10"/>
          <p:cNvSpPr/>
          <p:nvPr/>
        </p:nvSpPr>
        <p:spPr>
          <a:xfrm>
            <a:off x="8210550" y="2406452"/>
            <a:ext cx="3021711"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B2430"/>
                </a:solidFill>
                <a:latin typeface="Helvetica Neue" pitchFamily="34" charset="0"/>
                <a:ea typeface="Helvetica Neue" pitchFamily="34" charset="-122"/>
                <a:cs typeface="Helvetica Neue" pitchFamily="34" charset="-120"/>
              </a:rPr>
              <a:t>Rol, turno, país y estado de cuenta. 100 % sintéticos.</a:t>
            </a:r>
            <a:endParaRPr lang="en-US" sz="1400" dirty="0"/>
          </a:p>
        </p:txBody>
      </p:sp>
      <p:sp>
        <p:nvSpPr>
          <p:cNvPr id="13" name="Text 11"/>
          <p:cNvSpPr/>
          <p:nvPr/>
        </p:nvSpPr>
        <p:spPr>
          <a:xfrm>
            <a:off x="812800" y="3512443"/>
            <a:ext cx="10566400" cy="711200"/>
          </a:xfrm>
          <a:prstGeom prst="roundRect">
            <a:avLst>
              <a:gd name="adj" fmla="val 14286"/>
            </a:avLst>
          </a:prstGeom>
          <a:solidFill>
            <a:srgbClr val="1B2430"/>
          </a:solidFill>
          <a:ln/>
        </p:spPr>
        <p:txBody>
          <a:bodyPr wrap="square" lIns="198842" tIns="148042" rIns="0" bIns="122642" rtlCol="0" anchor="t">
            <a:normAutofit/>
          </a:bodyPr>
          <a:lstStyle/>
          <a:p>
            <a:pPr algn="l" indent="0" marL="0">
              <a:lnSpc>
                <a:spcPts val="2800"/>
              </a:lnSpc>
              <a:buNone/>
            </a:pPr>
            <a:r>
              <a:rPr lang="en-US" sz="2000" b="1" dirty="0">
                <a:solidFill>
                  <a:srgbClr val="F7F6F2"/>
                </a:solidFill>
                <a:latin typeface="Helvetica Neue" pitchFamily="34" charset="0"/>
                <a:ea typeface="Helvetica Neue" pitchFamily="34" charset="-122"/>
                <a:cs typeface="Helvetica Neue" pitchFamily="34" charset="-120"/>
              </a:rPr>
              <a:t>57.420 eventos · 35 columnas · 2.000 usuarios · 1 fila = 1 evento</a:t>
            </a:r>
            <a:endParaRPr lang="en-US" sz="2000" dirty="0"/>
          </a:p>
        </p:txBody>
      </p:sp>
      <p:sp>
        <p:nvSpPr>
          <p:cNvPr id="14" name="Text 12"/>
          <p:cNvSpPr/>
          <p:nvPr/>
        </p:nvSpPr>
        <p:spPr>
          <a:xfrm>
            <a:off x="812800" y="4401443"/>
            <a:ext cx="1088339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F6FB2"/>
                </a:solidFill>
                <a:latin typeface="Helvetica Neue" pitchFamily="34" charset="0"/>
                <a:ea typeface="Helvetica Neue" pitchFamily="34" charset="-122"/>
                <a:cs typeface="Helvetica Neue" pitchFamily="34" charset="-120"/>
              </a:rPr>
              <a:t>Conclusión:</a:t>
            </a:r>
            <a:r>
              <a:rPr lang="en-US" sz="1600" b="1" dirty="0">
                <a:solidFill>
                  <a:srgbClr val="1B2430"/>
                </a:solidFill>
                <a:latin typeface="Helvetica Neue" pitchFamily="34" charset="0"/>
                <a:ea typeface="Helvetica Neue" pitchFamily="34" charset="-122"/>
                <a:cs typeface="Helvetica Neue" pitchFamily="34" charset="-120"/>
              </a:rPr>
              <a:t> integración por User ID (empleados) y por rango de IP (IPinfo).</a:t>
            </a:r>
            <a:endParaRPr lang="en-US" sz="16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0"/>
                </a:solidFill>
                <a:latin typeface="Helvetica Neue" pitchFamily="34" charset="0"/>
                <a:ea typeface="Helvetica Neue" pitchFamily="34" charset="-122"/>
                <a:cs typeface="Helvetica Neue" pitchFamily="34" charset="-120"/>
              </a:rPr>
              <a:t>Pitch Minería de Datos · CRISP-DM · 2/8</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A00"/>
                </a:solidFill>
                <a:latin typeface="Helvetica Neue" pitchFamily="34" charset="0"/>
                <a:ea typeface="Helvetica Neue" pitchFamily="34" charset="-122"/>
                <a:cs typeface="Helvetica Neue" pitchFamily="34" charset="-120"/>
              </a:rPr>
              <a:t>DECISIÓN DE DISEÑO</a:t>
            </a:r>
            <a:endParaRPr lang="en-US" sz="1400" dirty="0"/>
          </a:p>
        </p:txBody>
      </p:sp>
      <p:sp>
        <p:nvSpPr>
          <p:cNvPr id="3" name="Text 1"/>
          <p:cNvSpPr/>
          <p:nvPr>
            <p:ph type="title"/>
          </p:nvPr>
        </p:nvSpPr>
        <p:spPr>
          <a:xfrm>
            <a:off x="812800" y="1239441"/>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2430"/>
                </a:solidFill>
                <a:latin typeface="Helvetica Neue" pitchFamily="34" charset="0"/>
                <a:ea typeface="Helvetica Neue" pitchFamily="34" charset="-122"/>
                <a:cs typeface="Helvetica Neue" pitchFamily="34" charset="-120"/>
              </a:rPr>
              <a:t>Decisiones metodológicas</a:t>
            </a:r>
            <a:endParaRPr lang="en-US" sz="2800" dirty="0"/>
          </a:p>
        </p:txBody>
      </p:sp>
      <p:sp>
        <p:nvSpPr>
          <p:cNvPr id="4" name="Text 2"/>
          <p:cNvSpPr/>
          <p:nvPr/>
        </p:nvSpPr>
        <p:spPr>
          <a:xfrm>
            <a:off x="896620" y="1808361"/>
            <a:ext cx="5533390" cy="2501900"/>
          </a:xfrm>
          <a:prstGeom prst="rect">
            <a:avLst/>
          </a:prstGeom>
          <a:noFill/>
          <a:ln/>
        </p:spPr>
        <p:txBody>
          <a:bodyPr wrap="square" lIns="0" tIns="0" rIns="0" bIns="0" rtlCol="0" anchor="t">
            <a:normAutofit/>
          </a:bodyPr>
          <a:lstStyle/>
          <a:p>
            <a:pPr algn="l" marL="170180" indent="-170180">
              <a:lnSpc>
                <a:spcPts val="1950"/>
              </a:lnSpc>
              <a:buSzPct val="100000"/>
              <a:buChar char="•"/>
            </a:pPr>
            <a:r>
              <a:rPr lang="en-US" sz="1500" dirty="0">
                <a:solidFill>
                  <a:srgbClr val="1B2430"/>
                </a:solidFill>
                <a:latin typeface="Helvetica Neue" pitchFamily="34" charset="0"/>
                <a:ea typeface="Helvetica Neue" pitchFamily="34" charset="-122"/>
                <a:cs typeface="Helvetica Neue" pitchFamily="34" charset="-120"/>
              </a:rPr>
              <a:t>Muestreo por usuarios: entran los usuarios con ATO y un mínimo de 15 eventos</a:t>
            </a:r>
            <a:endParaRPr lang="en-US" sz="1500" dirty="0"/>
          </a:p>
          <a:p>
            <a:pPr algn="l" marL="170180" indent="-170180">
              <a:lnSpc>
                <a:spcPts val="1950"/>
              </a:lnSpc>
              <a:buSzPct val="100000"/>
              <a:buChar char="•"/>
            </a:pPr>
            <a:r>
              <a:rPr lang="en-US" sz="1500" dirty="0">
                <a:solidFill>
                  <a:srgbClr val="1B2430"/>
                </a:solidFill>
                <a:latin typeface="Helvetica Neue" pitchFamily="34" charset="0"/>
                <a:ea typeface="Helvetica Neue" pitchFamily="34" charset="-122"/>
                <a:cs typeface="Helvetica Neue" pitchFamily="34" charset="-120"/>
              </a:rPr>
              <a:t>Entrenamiento y prueba se dividen por User ID, sin compartir usuarios</a:t>
            </a:r>
            <a:endParaRPr lang="en-US" sz="1500" dirty="0"/>
          </a:p>
          <a:p>
            <a:pPr algn="l" marL="170180" indent="-170180">
              <a:lnSpc>
                <a:spcPts val="1950"/>
              </a:lnSpc>
              <a:buSzPct val="100000"/>
              <a:buChar char="•"/>
            </a:pPr>
            <a:r>
              <a:rPr lang="en-US" sz="1500" dirty="0">
                <a:solidFill>
                  <a:srgbClr val="1B2430"/>
                </a:solidFill>
                <a:latin typeface="Helvetica Neue" pitchFamily="34" charset="0"/>
                <a:ea typeface="Helvetica Neue" pitchFamily="34" charset="-122"/>
                <a:cs typeface="Helvetica Neue" pitchFamily="34" charset="-120"/>
              </a:rPr>
              <a:t>Variables con información previa; el objetivo se retira antes de crearlas</a:t>
            </a:r>
            <a:endParaRPr lang="en-US" sz="1500" dirty="0"/>
          </a:p>
          <a:p>
            <a:pPr algn="l" marL="170180" indent="-170180">
              <a:lnSpc>
                <a:spcPts val="1950"/>
              </a:lnSpc>
              <a:buSzPct val="100000"/>
              <a:buChar char="•"/>
            </a:pPr>
            <a:r>
              <a:rPr lang="en-US" sz="1500" dirty="0">
                <a:solidFill>
                  <a:srgbClr val="1B2430"/>
                </a:solidFill>
                <a:latin typeface="Helvetica Neue" pitchFamily="34" charset="0"/>
                <a:ea typeface="Helvetica Neue" pitchFamily="34" charset="-122"/>
                <a:cs typeface="Helvetica Neue" pitchFamily="34" charset="-120"/>
              </a:rPr>
              <a:t>Los faltantes con significado se conservan, no se rellenan con 0</a:t>
            </a:r>
            <a:endParaRPr lang="en-US" sz="1500" dirty="0"/>
          </a:p>
          <a:p>
            <a:pPr algn="l" marL="170180" indent="-170180">
              <a:lnSpc>
                <a:spcPts val="1950"/>
              </a:lnSpc>
              <a:buSzPct val="100000"/>
              <a:buChar char="•"/>
            </a:pPr>
            <a:r>
              <a:rPr lang="en-US" sz="1500" dirty="0">
                <a:solidFill>
                  <a:srgbClr val="1B2430"/>
                </a:solidFill>
                <a:latin typeface="Helvetica Neue" pitchFamily="34" charset="0"/>
                <a:ea typeface="Helvetica Neue" pitchFamily="34" charset="-122"/>
                <a:cs typeface="Helvetica Neue" pitchFamily="34" charset="-120"/>
              </a:rPr>
              <a:t>Sobremuestreo solo en entrenamiento; la prueba queda intacta</a:t>
            </a:r>
            <a:endParaRPr lang="en-US" sz="1500" dirty="0"/>
          </a:p>
        </p:txBody>
      </p:sp>
      <p:sp>
        <p:nvSpPr>
          <p:cNvPr id="5" name="Shape 3"/>
          <p:cNvSpPr/>
          <p:nvPr/>
        </p:nvSpPr>
        <p:spPr>
          <a:xfrm>
            <a:off x="6578600" y="1808361"/>
            <a:ext cx="4699000" cy="2133600"/>
          </a:xfrm>
          <a:prstGeom prst="roundRect">
            <a:avLst>
              <a:gd name="adj" fmla="val 2381"/>
            </a:avLst>
          </a:prstGeom>
          <a:solidFill>
            <a:srgbClr val="FFFFFF"/>
          </a:solidFill>
          <a:ln/>
        </p:spPr>
      </p:sp>
      <p:pic>
        <p:nvPicPr>
          <p:cNvPr id="6" name="Image 0" descr="Figura M2: patrones positivos repetidos en entrenamiento">    </p:cNvPr>
          <p:cNvPicPr>
            <a:picLocks noChangeAspect="1"/>
          </p:cNvPicPr>
          <p:nvPr/>
        </p:nvPicPr>
        <p:blipFill>
          <a:blip r:embed="rId1"/>
          <a:srcRect l="-54" r="-54" t="0" b="0"/>
          <a:stretch/>
        </p:blipFill>
        <p:spPr>
          <a:xfrm>
            <a:off x="6578600" y="1808361"/>
            <a:ext cx="4699000" cy="2133600"/>
          </a:xfrm>
          <a:prstGeom prst="roundRect">
            <a:avLst>
              <a:gd name="adj" fmla="val 2381"/>
            </a:avLst>
          </a:prstGeom>
        </p:spPr>
      </p:pic>
      <p:sp>
        <p:nvSpPr>
          <p:cNvPr id="7" name="Text 4"/>
          <p:cNvSpPr/>
          <p:nvPr/>
        </p:nvSpPr>
        <p:spPr>
          <a:xfrm>
            <a:off x="6578600" y="4005461"/>
            <a:ext cx="49446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Helvetica Neue" pitchFamily="34" charset="0"/>
                <a:ea typeface="Helvetica Neue" pitchFamily="34" charset="-122"/>
                <a:cs typeface="Helvetica Neue" pitchFamily="34" charset="-120"/>
              </a:rPr>
              <a:t>M2 (EDA): 46.523 filas positivas de entrenamiento = 36 patrones distintos</a:t>
            </a:r>
            <a:endParaRPr lang="en-US" sz="1200" dirty="0"/>
          </a:p>
        </p:txBody>
      </p:sp>
      <p:sp>
        <p:nvSpPr>
          <p:cNvPr id="8" name="Text 5"/>
          <p:cNvSpPr/>
          <p:nvPr/>
        </p:nvSpPr>
        <p:spPr>
          <a:xfrm>
            <a:off x="812800" y="4609902"/>
            <a:ext cx="1088339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F6FB2"/>
                </a:solidFill>
                <a:latin typeface="Helvetica Neue" pitchFamily="34" charset="0"/>
                <a:ea typeface="Helvetica Neue" pitchFamily="34" charset="-122"/>
                <a:cs typeface="Helvetica Neue" pitchFamily="34" charset="-120"/>
              </a:rPr>
              <a:t>Idea central:</a:t>
            </a:r>
            <a:r>
              <a:rPr lang="en-US" sz="1600" b="1" dirty="0">
                <a:solidFill>
                  <a:srgbClr val="1B2430"/>
                </a:solidFill>
                <a:latin typeface="Helvetica Neue" pitchFamily="34" charset="0"/>
                <a:ea typeface="Helvetica Neue" pitchFamily="34" charset="-122"/>
                <a:cs typeface="Helvetica Neue" pitchFamily="34" charset="-120"/>
              </a:rPr>
              <a:t> prioridad a evitar fuga de información antes de modelar.</a:t>
            </a:r>
            <a:endParaRPr lang="en-US" sz="16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0"/>
                </a:solidFill>
                <a:latin typeface="Helvetica Neue" pitchFamily="34" charset="0"/>
                <a:ea typeface="Helvetica Neue" pitchFamily="34" charset="-122"/>
                <a:cs typeface="Helvetica Neue" pitchFamily="34" charset="-120"/>
              </a:rPr>
              <a:t>Pitch Minería de Datos · CRISP-DM · 3/8</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A00"/>
                </a:solidFill>
                <a:latin typeface="Helvetica Neue" pitchFamily="34" charset="0"/>
                <a:ea typeface="Helvetica Neue" pitchFamily="34" charset="-122"/>
                <a:cs typeface="Helvetica Neue" pitchFamily="34" charset="-120"/>
              </a:rPr>
              <a:t>OBSERVADO</a:t>
            </a:r>
            <a:endParaRPr lang="en-US" sz="1400" dirty="0"/>
          </a:p>
        </p:txBody>
      </p:sp>
      <p:sp>
        <p:nvSpPr>
          <p:cNvPr id="3" name="Text 1"/>
          <p:cNvSpPr/>
          <p:nvPr>
            <p:ph type="title"/>
          </p:nvPr>
        </p:nvSpPr>
        <p:spPr>
          <a:xfrm>
            <a:off x="812800" y="1239441"/>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2430"/>
                </a:solidFill>
                <a:latin typeface="Helvetica Neue" pitchFamily="34" charset="0"/>
                <a:ea typeface="Helvetica Neue" pitchFamily="34" charset="-122"/>
                <a:cs typeface="Helvetica Neue" pitchFamily="34" charset="-120"/>
              </a:rPr>
              <a:t>La clase positiva es muy pequeña</a:t>
            </a:r>
            <a:endParaRPr lang="en-US" sz="2800" dirty="0"/>
          </a:p>
        </p:txBody>
      </p:sp>
      <p:sp>
        <p:nvSpPr>
          <p:cNvPr id="4" name="Shape 2"/>
          <p:cNvSpPr/>
          <p:nvPr/>
        </p:nvSpPr>
        <p:spPr>
          <a:xfrm>
            <a:off x="812800" y="1808361"/>
            <a:ext cx="3873500" cy="3175000"/>
          </a:xfrm>
          <a:prstGeom prst="roundRect">
            <a:avLst>
              <a:gd name="adj" fmla="val 1600"/>
            </a:avLst>
          </a:prstGeom>
          <a:solidFill>
            <a:srgbClr val="FFFFFF"/>
          </a:solidFill>
          <a:ln/>
        </p:spPr>
      </p:sp>
      <p:pic>
        <p:nvPicPr>
          <p:cNvPr id="5" name="Image 0" descr="Figura D1: eventos por clase">    </p:cNvPr>
          <p:cNvPicPr>
            <a:picLocks noChangeAspect="1"/>
          </p:cNvPicPr>
          <p:nvPr/>
        </p:nvPicPr>
        <p:blipFill>
          <a:blip r:embed="rId1"/>
          <a:srcRect l="-42" r="-42" t="0" b="0"/>
          <a:stretch/>
        </p:blipFill>
        <p:spPr>
          <a:xfrm>
            <a:off x="812800" y="1808361"/>
            <a:ext cx="3873500" cy="3175000"/>
          </a:xfrm>
          <a:prstGeom prst="roundRect">
            <a:avLst>
              <a:gd name="adj" fmla="val 1600"/>
            </a:avLst>
          </a:prstGeom>
        </p:spPr>
      </p:pic>
      <p:sp>
        <p:nvSpPr>
          <p:cNvPr id="6" name="Text 3"/>
          <p:cNvSpPr/>
          <p:nvPr/>
        </p:nvSpPr>
        <p:spPr>
          <a:xfrm>
            <a:off x="812800" y="5046861"/>
            <a:ext cx="39897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Helvetica Neue" pitchFamily="34" charset="0"/>
                <a:ea typeface="Helvetica Neue" pitchFamily="34" charset="-122"/>
                <a:cs typeface="Helvetica Neue" pitchFamily="34" charset="-120"/>
              </a:rPr>
              <a:t>D1 (EDA), panel de eventos recortado</a:t>
            </a:r>
            <a:endParaRPr lang="en-US" sz="1200" dirty="0"/>
          </a:p>
        </p:txBody>
      </p:sp>
      <p:sp>
        <p:nvSpPr>
          <p:cNvPr id="7" name="Shape 4"/>
          <p:cNvSpPr/>
          <p:nvPr/>
        </p:nvSpPr>
        <p:spPr>
          <a:xfrm>
            <a:off x="4940300" y="1808361"/>
            <a:ext cx="5410200" cy="3175000"/>
          </a:xfrm>
          <a:prstGeom prst="roundRect">
            <a:avLst>
              <a:gd name="adj" fmla="val 1600"/>
            </a:avLst>
          </a:prstGeom>
          <a:solidFill>
            <a:srgbClr val="FFFFFF"/>
          </a:solidFill>
          <a:ln/>
        </p:spPr>
      </p:sp>
      <p:pic>
        <p:nvPicPr>
          <p:cNvPr id="8" name="Image 1" descr="Figura M1: balance de clases">    </p:cNvPr>
          <p:cNvPicPr>
            <a:picLocks noChangeAspect="1"/>
          </p:cNvPicPr>
          <p:nvPr/>
        </p:nvPicPr>
        <p:blipFill>
          <a:blip r:embed="rId2"/>
          <a:srcRect l="0" r="0" t="-14" b="-14"/>
          <a:stretch/>
        </p:blipFill>
        <p:spPr>
          <a:xfrm>
            <a:off x="4940300" y="1808361"/>
            <a:ext cx="5410200" cy="3175000"/>
          </a:xfrm>
          <a:prstGeom prst="roundRect">
            <a:avLst>
              <a:gd name="adj" fmla="val 1600"/>
            </a:avLst>
          </a:prstGeom>
        </p:spPr>
      </p:pic>
      <p:sp>
        <p:nvSpPr>
          <p:cNvPr id="9" name="Text 5"/>
          <p:cNvSpPr/>
          <p:nvPr/>
        </p:nvSpPr>
        <p:spPr>
          <a:xfrm>
            <a:off x="4940300" y="5046861"/>
            <a:ext cx="55725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Helvetica Neue" pitchFamily="34" charset="0"/>
                <a:ea typeface="Helvetica Neue" pitchFamily="34" charset="-122"/>
                <a:cs typeface="Helvetica Neue" pitchFamily="34" charset="-120"/>
              </a:rPr>
              <a:t>M1 (EDA): balance final, entrenamiento y prueba</a:t>
            </a:r>
            <a:endParaRPr lang="en-US" sz="1200" dirty="0"/>
          </a:p>
        </p:txBody>
      </p:sp>
      <p:sp>
        <p:nvSpPr>
          <p:cNvPr id="10" name="Text 6"/>
          <p:cNvSpPr/>
          <p:nvPr/>
        </p:nvSpPr>
        <p:spPr>
          <a:xfrm>
            <a:off x="812800" y="5437981"/>
            <a:ext cx="1088339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F6FB2"/>
                </a:solidFill>
                <a:latin typeface="Helvetica Neue" pitchFamily="34" charset="0"/>
                <a:ea typeface="Helvetica Neue" pitchFamily="34" charset="-122"/>
                <a:cs typeface="Helvetica Neue" pitchFamily="34" charset="-120"/>
              </a:rPr>
              <a:t>Observado:</a:t>
            </a:r>
            <a:r>
              <a:rPr lang="en-US" sz="1600" b="1" dirty="0">
                <a:solidFill>
                  <a:srgbClr val="1B2430"/>
                </a:solidFill>
                <a:latin typeface="Helvetica Neue" pitchFamily="34" charset="0"/>
                <a:ea typeface="Helvetica Neue" pitchFamily="34" charset="-122"/>
                <a:cs typeface="Helvetica Neue" pitchFamily="34" charset="-120"/>
              </a:rPr>
              <a:t> 45 eventos ATO de 57.420 (0,078 %): muestra enriquecida, no es la prevalencia real.</a:t>
            </a:r>
            <a:endParaRPr lang="en-US" sz="1600" dirty="0"/>
          </a:p>
        </p:txBody>
      </p:sp>
      <p:sp>
        <p:nvSpPr>
          <p:cNvPr id="11"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0"/>
                </a:solidFill>
                <a:latin typeface="Helvetica Neue" pitchFamily="34" charset="0"/>
                <a:ea typeface="Helvetica Neue" pitchFamily="34" charset="-122"/>
                <a:cs typeface="Helvetica Neue" pitchFamily="34" charset="-120"/>
              </a:rPr>
              <a:t>Pitch Minería de Datos · CRISP-DM · 4/8 · Conteo por usuarios no mostrado: discrepancia pendiente de conciliar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A00"/>
                </a:solidFill>
                <a:latin typeface="Helvetica Neue" pitchFamily="34" charset="0"/>
                <a:ea typeface="Helvetica Neue" pitchFamily="34" charset="-122"/>
                <a:cs typeface="Helvetica Neue" pitchFamily="34" charset="-120"/>
              </a:rPr>
              <a:t>OBSERVADO</a:t>
            </a:r>
            <a:endParaRPr lang="en-US" sz="1400" dirty="0"/>
          </a:p>
        </p:txBody>
      </p:sp>
      <p:sp>
        <p:nvSpPr>
          <p:cNvPr id="3" name="Text 1"/>
          <p:cNvSpPr/>
          <p:nvPr>
            <p:ph type="title"/>
          </p:nvPr>
        </p:nvSpPr>
        <p:spPr>
          <a:xfrm>
            <a:off x="812800" y="1239441"/>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2430"/>
                </a:solidFill>
                <a:latin typeface="Helvetica Neue" pitchFamily="34" charset="0"/>
                <a:ea typeface="Helvetica Neue" pitchFamily="34" charset="-122"/>
                <a:cs typeface="Helvetica Neue" pitchFamily="34" charset="-120"/>
              </a:rPr>
              <a:t>Las señales de negocio casi no separan las clases</a:t>
            </a:r>
            <a:endParaRPr lang="en-US" sz="2800" dirty="0"/>
          </a:p>
        </p:txBody>
      </p:sp>
      <p:sp>
        <p:nvSpPr>
          <p:cNvPr id="4" name="Shape 2"/>
          <p:cNvSpPr/>
          <p:nvPr/>
        </p:nvSpPr>
        <p:spPr>
          <a:xfrm>
            <a:off x="812800" y="1808361"/>
            <a:ext cx="5080000" cy="2171700"/>
          </a:xfrm>
          <a:prstGeom prst="roundRect">
            <a:avLst>
              <a:gd name="adj" fmla="val 2339"/>
            </a:avLst>
          </a:prstGeom>
          <a:solidFill>
            <a:srgbClr val="FFFFFF"/>
          </a:solidFill>
          <a:ln/>
        </p:spPr>
      </p:sp>
      <p:pic>
        <p:nvPicPr>
          <p:cNvPr id="5" name="Image 0" descr="Figura D4: fallos previos por clase">    </p:cNvPr>
          <p:cNvPicPr>
            <a:picLocks noChangeAspect="1"/>
          </p:cNvPicPr>
          <p:nvPr/>
        </p:nvPicPr>
        <p:blipFill>
          <a:blip r:embed="rId1"/>
          <a:srcRect l="0" r="0" t="-49" b="-49"/>
          <a:stretch/>
        </p:blipFill>
        <p:spPr>
          <a:xfrm>
            <a:off x="812800" y="1808361"/>
            <a:ext cx="5080000" cy="2171700"/>
          </a:xfrm>
          <a:prstGeom prst="roundRect">
            <a:avLst>
              <a:gd name="adj" fmla="val 2339"/>
            </a:avLst>
          </a:prstGeom>
        </p:spPr>
      </p:pic>
      <p:sp>
        <p:nvSpPr>
          <p:cNvPr id="6" name="Text 3"/>
          <p:cNvSpPr/>
          <p:nvPr/>
        </p:nvSpPr>
        <p:spPr>
          <a:xfrm>
            <a:off x="812800" y="4043561"/>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Helvetica Neue" pitchFamily="34" charset="0"/>
                <a:ea typeface="Helvetica Neue" pitchFamily="34" charset="-122"/>
                <a:cs typeface="Helvetica Neue" pitchFamily="34" charset="-120"/>
              </a:rPr>
              <a:t>D4 (EDA): intentos fallidos previos por clase</a:t>
            </a:r>
            <a:endParaRPr lang="en-US" sz="1200" dirty="0"/>
          </a:p>
        </p:txBody>
      </p:sp>
      <p:sp>
        <p:nvSpPr>
          <p:cNvPr id="7" name="Shape 4"/>
          <p:cNvSpPr/>
          <p:nvPr/>
        </p:nvSpPr>
        <p:spPr>
          <a:xfrm>
            <a:off x="6146800" y="1808361"/>
            <a:ext cx="5080000" cy="2832100"/>
          </a:xfrm>
          <a:prstGeom prst="roundRect">
            <a:avLst>
              <a:gd name="adj" fmla="val 1794"/>
            </a:avLst>
          </a:prstGeom>
          <a:solidFill>
            <a:srgbClr val="FFFFFF"/>
          </a:solidFill>
          <a:ln/>
        </p:spPr>
      </p:sp>
      <p:pic>
        <p:nvPicPr>
          <p:cNvPr id="8" name="Image 1" descr="Figura D6: variables binarias por clase">    </p:cNvPr>
          <p:cNvPicPr>
            <a:picLocks noChangeAspect="1"/>
          </p:cNvPicPr>
          <p:nvPr/>
        </p:nvPicPr>
        <p:blipFill>
          <a:blip r:embed="rId2"/>
          <a:srcRect l="0" r="0" t="-44" b="-44"/>
          <a:stretch/>
        </p:blipFill>
        <p:spPr>
          <a:xfrm>
            <a:off x="6146800" y="1808361"/>
            <a:ext cx="5080000" cy="2832100"/>
          </a:xfrm>
          <a:prstGeom prst="roundRect">
            <a:avLst>
              <a:gd name="adj" fmla="val 1794"/>
            </a:avLst>
          </a:prstGeom>
        </p:spPr>
      </p:pic>
      <p:sp>
        <p:nvSpPr>
          <p:cNvPr id="9" name="Text 5"/>
          <p:cNvSpPr/>
          <p:nvPr/>
        </p:nvSpPr>
        <p:spPr>
          <a:xfrm>
            <a:off x="6146800" y="4703961"/>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Helvetica Neue" pitchFamily="34" charset="0"/>
                <a:ea typeface="Helvetica Neue" pitchFamily="34" charset="-122"/>
                <a:cs typeface="Helvetica Neue" pitchFamily="34" charset="-120"/>
              </a:rPr>
              <a:t>D6 (EDA): señales binarias por clase</a:t>
            </a:r>
            <a:endParaRPr lang="en-US" sz="1200" dirty="0"/>
          </a:p>
        </p:txBody>
      </p:sp>
      <p:sp>
        <p:nvSpPr>
          <p:cNvPr id="10" name="Text 6"/>
          <p:cNvSpPr/>
          <p:nvPr/>
        </p:nvSpPr>
        <p:spPr>
          <a:xfrm>
            <a:off x="812800" y="5095081"/>
            <a:ext cx="1088339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F6FB2"/>
                </a:solidFill>
                <a:latin typeface="Helvetica Neue" pitchFamily="34" charset="0"/>
                <a:ea typeface="Helvetica Neue" pitchFamily="34" charset="-122"/>
                <a:cs typeface="Helvetica Neue" pitchFamily="34" charset="-120"/>
              </a:rPr>
              <a:t>Interpretación:</a:t>
            </a:r>
            <a:r>
              <a:rPr lang="en-US" sz="1600" b="1" dirty="0">
                <a:solidFill>
                  <a:srgbClr val="1B2430"/>
                </a:solidFill>
                <a:latin typeface="Helvetica Neue" pitchFamily="34" charset="0"/>
                <a:ea typeface="Helvetica Neue" pitchFamily="34" charset="-122"/>
                <a:cs typeface="Helvetica Neue" pitchFamily="34" charset="-120"/>
              </a:rPr>
              <a:t> diferencias pequeñas con solo 45 positivos: descriptivas, no concluyentes.</a:t>
            </a:r>
            <a:endParaRPr lang="en-US" sz="1600" dirty="0"/>
          </a:p>
        </p:txBody>
      </p:sp>
      <p:sp>
        <p:nvSpPr>
          <p:cNvPr id="11"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0"/>
                </a:solidFill>
                <a:latin typeface="Helvetica Neue" pitchFamily="34" charset="0"/>
                <a:ea typeface="Helvetica Neue" pitchFamily="34" charset="-122"/>
                <a:cs typeface="Helvetica Neue" pitchFamily="34" charset="-120"/>
              </a:rPr>
              <a:t>Pitch Minería de Datos · CRISP-DM · 5/8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A00"/>
                </a:solidFill>
                <a:latin typeface="Helvetica Neue" pitchFamily="34" charset="0"/>
                <a:ea typeface="Helvetica Neue" pitchFamily="34" charset="-122"/>
                <a:cs typeface="Helvetica Neue" pitchFamily="34" charset="-120"/>
              </a:rPr>
              <a:t>OBSERVADO</a:t>
            </a:r>
            <a:endParaRPr lang="en-US" sz="1400" dirty="0"/>
          </a:p>
        </p:txBody>
      </p:sp>
      <p:sp>
        <p:nvSpPr>
          <p:cNvPr id="3" name="Text 1"/>
          <p:cNvSpPr/>
          <p:nvPr>
            <p:ph type="title"/>
          </p:nvPr>
        </p:nvSpPr>
        <p:spPr>
          <a:xfrm>
            <a:off x="812800" y="1239441"/>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2430"/>
                </a:solidFill>
                <a:latin typeface="Helvetica Neue" pitchFamily="34" charset="0"/>
                <a:ea typeface="Helvetica Neue" pitchFamily="34" charset="-122"/>
                <a:cs typeface="Helvetica Neue" pitchFamily="34" charset="-120"/>
              </a:rPr>
              <a:t>Cobertura geográfica y horaria limitada</a:t>
            </a:r>
            <a:endParaRPr lang="en-US" sz="2800" dirty="0"/>
          </a:p>
        </p:txBody>
      </p:sp>
      <p:sp>
        <p:nvSpPr>
          <p:cNvPr id="4" name="Shape 2"/>
          <p:cNvSpPr/>
          <p:nvPr/>
        </p:nvSpPr>
        <p:spPr>
          <a:xfrm>
            <a:off x="812800" y="1808361"/>
            <a:ext cx="5080000" cy="2184400"/>
          </a:xfrm>
          <a:prstGeom prst="roundRect">
            <a:avLst>
              <a:gd name="adj" fmla="val 2326"/>
            </a:avLst>
          </a:prstGeom>
          <a:solidFill>
            <a:srgbClr val="FFFFFF"/>
          </a:solidFill>
          <a:ln/>
        </p:spPr>
      </p:sp>
      <p:pic>
        <p:nvPicPr>
          <p:cNvPr id="5" name="Image 0" descr="Figura D3: cobertura de movimiento y país">    </p:cNvPr>
          <p:cNvPicPr>
            <a:picLocks noChangeAspect="1"/>
          </p:cNvPicPr>
          <p:nvPr/>
        </p:nvPicPr>
        <p:blipFill>
          <a:blip r:embed="rId1"/>
          <a:srcRect l="-11" r="-11" t="0" b="0"/>
          <a:stretch/>
        </p:blipFill>
        <p:spPr>
          <a:xfrm>
            <a:off x="812800" y="1808361"/>
            <a:ext cx="5080000" cy="2184400"/>
          </a:xfrm>
          <a:prstGeom prst="roundRect">
            <a:avLst>
              <a:gd name="adj" fmla="val 2326"/>
            </a:avLst>
          </a:prstGeom>
        </p:spPr>
      </p:pic>
      <p:sp>
        <p:nvSpPr>
          <p:cNvPr id="6" name="Text 3"/>
          <p:cNvSpPr/>
          <p:nvPr/>
        </p:nvSpPr>
        <p:spPr>
          <a:xfrm>
            <a:off x="812800" y="4056261"/>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Helvetica Neue" pitchFamily="34" charset="0"/>
                <a:ea typeface="Helvetica Neue" pitchFamily="34" charset="-122"/>
                <a:cs typeface="Helvetica Neue" pitchFamily="34" charset="-120"/>
              </a:rPr>
              <a:t>D3 (EDA): cobertura de movimiento y de Country</a:t>
            </a:r>
            <a:endParaRPr lang="en-US" sz="1200" dirty="0"/>
          </a:p>
        </p:txBody>
      </p:sp>
      <p:sp>
        <p:nvSpPr>
          <p:cNvPr id="7" name="Shape 4"/>
          <p:cNvSpPr/>
          <p:nvPr/>
        </p:nvSpPr>
        <p:spPr>
          <a:xfrm>
            <a:off x="6146800" y="1808361"/>
            <a:ext cx="5080000" cy="2006600"/>
          </a:xfrm>
          <a:prstGeom prst="roundRect">
            <a:avLst>
              <a:gd name="adj" fmla="val 2532"/>
            </a:avLst>
          </a:prstGeom>
          <a:solidFill>
            <a:srgbClr val="FFFFFF"/>
          </a:solidFill>
          <a:ln/>
        </p:spPr>
      </p:sp>
      <p:pic>
        <p:nvPicPr>
          <p:cNvPr id="8" name="Image 1" descr="Figura D9: distribución temporal">    </p:cNvPr>
          <p:cNvPicPr>
            <a:picLocks noChangeAspect="1"/>
          </p:cNvPicPr>
          <p:nvPr/>
        </p:nvPicPr>
        <p:blipFill>
          <a:blip r:embed="rId2"/>
          <a:srcRect l="0" r="0" t="-62" b="-62"/>
          <a:stretch/>
        </p:blipFill>
        <p:spPr>
          <a:xfrm>
            <a:off x="6146800" y="1808361"/>
            <a:ext cx="5080000" cy="2006600"/>
          </a:xfrm>
          <a:prstGeom prst="roundRect">
            <a:avLst>
              <a:gd name="adj" fmla="val 2532"/>
            </a:avLst>
          </a:prstGeom>
        </p:spPr>
      </p:pic>
      <p:sp>
        <p:nvSpPr>
          <p:cNvPr id="9" name="Text 5"/>
          <p:cNvSpPr/>
          <p:nvPr/>
        </p:nvSpPr>
        <p:spPr>
          <a:xfrm>
            <a:off x="6146800" y="3878461"/>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Helvetica Neue" pitchFamily="34" charset="0"/>
                <a:ea typeface="Helvetica Neue" pitchFamily="34" charset="-122"/>
                <a:cs typeface="Helvetica Neue" pitchFamily="34" charset="-120"/>
              </a:rPr>
              <a:t>D9 (EDA): eventos por hora (UTC) y mes</a:t>
            </a:r>
            <a:endParaRPr lang="en-US" sz="1200" dirty="0"/>
          </a:p>
        </p:txBody>
      </p:sp>
      <p:sp>
        <p:nvSpPr>
          <p:cNvPr id="10" name="Text 6"/>
          <p:cNvSpPr/>
          <p:nvPr/>
        </p:nvSpPr>
        <p:spPr>
          <a:xfrm>
            <a:off x="812800" y="4447381"/>
            <a:ext cx="10883392"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F6FB2"/>
                </a:solidFill>
                <a:latin typeface="Helvetica Neue" pitchFamily="34" charset="0"/>
                <a:ea typeface="Helvetica Neue" pitchFamily="34" charset="-122"/>
                <a:cs typeface="Helvetica Neue" pitchFamily="34" charset="-120"/>
              </a:rPr>
              <a:t>Observado:</a:t>
            </a:r>
            <a:r>
              <a:rPr lang="en-US" sz="1600" b="1" dirty="0">
                <a:solidFill>
                  <a:srgbClr val="1B2430"/>
                </a:solidFill>
                <a:latin typeface="Helvetica Neue" pitchFamily="34" charset="0"/>
                <a:ea typeface="Helvetica Neue" pitchFamily="34" charset="-122"/>
                <a:cs typeface="Helvetica Neue" pitchFamily="34" charset="-120"/>
              </a:rPr>
              <a:t> el movimiento es evaluable en 11,9 % de los eventos (6.811 de 57.420); horas en UTC y sintéticas.</a:t>
            </a:r>
            <a:endParaRPr lang="en-US" sz="1600" dirty="0"/>
          </a:p>
        </p:txBody>
      </p:sp>
      <p:sp>
        <p:nvSpPr>
          <p:cNvPr id="11" name="Text 7"/>
          <p:cNvSpPr/>
          <p:nvPr/>
        </p:nvSpPr>
        <p:spPr>
          <a:xfrm>
            <a:off x="812800" y="513318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6FB2"/>
                </a:solidFill>
                <a:latin typeface="Helvetica Neue" pitchFamily="34" charset="0"/>
                <a:ea typeface="Helvetica Neue" pitchFamily="34" charset="-122"/>
                <a:cs typeface="Helvetica Neue" pitchFamily="34" charset="-120"/>
              </a:rPr>
              <a:t>Interpretación:</a:t>
            </a:r>
            <a:r>
              <a:rPr lang="en-US" sz="1400" dirty="0">
                <a:solidFill>
                  <a:srgbClr val="4A5563"/>
                </a:solidFill>
                <a:latin typeface="Helvetica Neue" pitchFamily="34" charset="0"/>
                <a:ea typeface="Helvetica Neue" pitchFamily="34" charset="-122"/>
                <a:cs typeface="Helvetica Neue" pitchFamily="34" charset="-120"/>
              </a:rPr>
              <a:t> falta de cobertura no equivale a ausencia de ataques.</a:t>
            </a:r>
            <a:endParaRPr lang="en-US" sz="1400" dirty="0"/>
          </a:p>
        </p:txBody>
      </p:sp>
      <p:sp>
        <p:nvSpPr>
          <p:cNvPr id="12"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0"/>
                </a:solidFill>
                <a:latin typeface="Helvetica Neue" pitchFamily="34" charset="0"/>
                <a:ea typeface="Helvetica Neue" pitchFamily="34" charset="-122"/>
                <a:cs typeface="Helvetica Neue" pitchFamily="34" charset="-120"/>
              </a:rPr>
              <a:t>Pitch Minería de Datos · CRISP-DM · 6/8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A00"/>
                </a:solidFill>
                <a:latin typeface="Helvetica Neue" pitchFamily="34" charset="0"/>
                <a:ea typeface="Helvetica Neue" pitchFamily="34" charset="-122"/>
                <a:cs typeface="Helvetica Neue" pitchFamily="34" charset="-120"/>
              </a:rPr>
              <a:t>EJEMPLO CONCEPTUAL</a:t>
            </a:r>
            <a:endParaRPr lang="en-US" sz="1400" dirty="0"/>
          </a:p>
        </p:txBody>
      </p:sp>
      <p:pic>
        <p:nvPicPr>
          <p:cNvPr id="3" name="Image 0" descr="Árbol 1: intentos fallidos: ejemplo didáctico, no es un modelo entrenado">    </p:cNvPr>
          <p:cNvPicPr>
            <a:picLocks noChangeAspect="1"/>
          </p:cNvPicPr>
          <p:nvPr/>
        </p:nvPicPr>
        <p:blipFill>
          <a:blip r:embed="rId1"/>
          <a:srcRect l="0" r="0" t="0" b="0"/>
          <a:stretch/>
        </p:blipFill>
        <p:spPr>
          <a:xfrm>
            <a:off x="812800" y="952500"/>
            <a:ext cx="10566400" cy="4489450"/>
          </a:xfrm>
          <a:prstGeom prst="rect">
            <a:avLst/>
          </a:prstGeom>
        </p:spPr>
      </p:pic>
      <p:pic>
        <p:nvPicPr>
          <p:cNvPr id="4" name="Image 1" descr="Árbol 2: ubicación: ejemplo didáctico, no es un modelo entrenado">    </p:cNvPr>
          <p:cNvPicPr>
            <a:picLocks noChangeAspect="1"/>
          </p:cNvPicPr>
          <p:nvPr/>
        </p:nvPicPr>
        <p:blipFill>
          <a:blip r:embed="rId2"/>
          <a:srcRect l="0" r="0" t="0" b="0"/>
          <a:stretch/>
        </p:blipFill>
        <p:spPr>
          <a:xfrm>
            <a:off x="812800" y="952500"/>
            <a:ext cx="10566400" cy="4489450"/>
          </a:xfrm>
          <a:prstGeom prst="rect">
            <a:avLst/>
          </a:prstGeom>
        </p:spPr>
      </p:pic>
      <p:pic>
        <p:nvPicPr>
          <p:cNvPr id="5" name="Image 2" descr="Árbol 3: reputación de IP: ejemplo didáctico, no es un modelo entrenado">    </p:cNvPr>
          <p:cNvPicPr>
            <a:picLocks noChangeAspect="1"/>
          </p:cNvPicPr>
          <p:nvPr/>
        </p:nvPicPr>
        <p:blipFill>
          <a:blip r:embed="rId3"/>
          <a:srcRect l="0" r="0" t="0" b="0"/>
          <a:stretch/>
        </p:blipFill>
        <p:spPr>
          <a:xfrm>
            <a:off x="812800" y="952500"/>
            <a:ext cx="10566400" cy="4489450"/>
          </a:xfrm>
          <a:prstGeom prst="rect">
            <a:avLst/>
          </a:prstGeom>
        </p:spPr>
      </p:pic>
      <p:pic>
        <p:nvPicPr>
          <p:cNvPr id="6" name="Image 3" descr="Árbol 4: horario: ejemplo didáctico, no es un modelo entrenado">    </p:cNvPr>
          <p:cNvPicPr>
            <a:picLocks noChangeAspect="1"/>
          </p:cNvPicPr>
          <p:nvPr/>
        </p:nvPicPr>
        <p:blipFill>
          <a:blip r:embed="rId4"/>
          <a:srcRect l="0" r="0" t="0" b="0"/>
          <a:stretch/>
        </p:blipFill>
        <p:spPr>
          <a:xfrm>
            <a:off x="812800" y="952500"/>
            <a:ext cx="10566400" cy="4489450"/>
          </a:xfrm>
          <a:prstGeom prst="rect">
            <a:avLst/>
          </a:prstGeom>
        </p:spPr>
      </p:pic>
      <p:pic>
        <p:nvPicPr>
          <p:cNvPr id="7" name="Image 4" descr="Árbol 5: señales combinadas: ejemplo didáctico, no es un modelo entrenado">    </p:cNvPr>
          <p:cNvPicPr>
            <a:picLocks noChangeAspect="1"/>
          </p:cNvPicPr>
          <p:nvPr/>
        </p:nvPicPr>
        <p:blipFill>
          <a:blip r:embed="rId5"/>
          <a:srcRect l="0" r="0" t="0" b="0"/>
          <a:stretch/>
        </p:blipFill>
        <p:spPr>
          <a:xfrm>
            <a:off x="812800" y="952500"/>
            <a:ext cx="10566400" cy="4489450"/>
          </a:xfrm>
          <a:prstGeom prst="rect">
            <a:avLst/>
          </a:prstGeom>
        </p:spPr>
      </p:pic>
      <p:sp>
        <p:nvSpPr>
          <p:cNvPr id="8" name="Text 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0"/>
                </a:solidFill>
                <a:latin typeface="Helvetica Neue" pitchFamily="34" charset="0"/>
                <a:ea typeface="Helvetica Neue" pitchFamily="34" charset="-122"/>
                <a:cs typeface="Helvetica Neue" pitchFamily="34" charset="-120"/>
              </a:rPr>
              <a:t>Pitch Minería de Datos · CRISP-DM · 7/8 · Ilustraciones didácticas, no modelos entrenados · cada clic muestra el siguiente árbol (1 a 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A00"/>
                </a:solidFill>
                <a:latin typeface="Helvetica Neue" pitchFamily="34" charset="0"/>
                <a:ea typeface="Helvetica Neue" pitchFamily="34" charset="-122"/>
                <a:cs typeface="Helvetica Neue" pitchFamily="34" charset="-120"/>
              </a:rPr>
              <a:t>LIMITACIONES Y PLAN</a:t>
            </a:r>
            <a:endParaRPr lang="en-US" sz="1400" dirty="0"/>
          </a:p>
        </p:txBody>
      </p:sp>
      <p:sp>
        <p:nvSpPr>
          <p:cNvPr id="3" name="Text 1"/>
          <p:cNvSpPr/>
          <p:nvPr>
            <p:ph type="title"/>
          </p:nvPr>
        </p:nvSpPr>
        <p:spPr>
          <a:xfrm>
            <a:off x="812800" y="1239441"/>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2430"/>
                </a:solidFill>
                <a:latin typeface="Helvetica Neue" pitchFamily="34" charset="0"/>
                <a:ea typeface="Helvetica Neue" pitchFamily="34" charset="-122"/>
                <a:cs typeface="Helvetica Neue" pitchFamily="34" charset="-120"/>
              </a:rPr>
              <a:t>Limitaciones y próximos pasos</a:t>
            </a:r>
            <a:endParaRPr lang="en-US" sz="2800" dirty="0"/>
          </a:p>
        </p:txBody>
      </p:sp>
      <p:sp>
        <p:nvSpPr>
          <p:cNvPr id="4" name="Shape 2"/>
          <p:cNvSpPr/>
          <p:nvPr/>
        </p:nvSpPr>
        <p:spPr>
          <a:xfrm>
            <a:off x="815975" y="1811536"/>
            <a:ext cx="6132810" cy="2177852"/>
          </a:xfrm>
          <a:prstGeom prst="roundRect">
            <a:avLst>
              <a:gd name="adj" fmla="val 4519"/>
            </a:avLst>
          </a:prstGeom>
          <a:solidFill>
            <a:srgbClr val="FFFFFF"/>
          </a:solidFill>
          <a:ln w="6350">
            <a:solidFill>
              <a:srgbClr val="DDD9CF"/>
            </a:solidFill>
            <a:prstDash val="solid"/>
          </a:ln>
        </p:spPr>
      </p:sp>
      <p:sp>
        <p:nvSpPr>
          <p:cNvPr id="5" name="Text 3"/>
          <p:cNvSpPr/>
          <p:nvPr/>
        </p:nvSpPr>
        <p:spPr>
          <a:xfrm>
            <a:off x="1047750" y="2043311"/>
            <a:ext cx="583933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0"/>
                </a:solidFill>
                <a:latin typeface="Helvetica Neue" pitchFamily="34" charset="0"/>
                <a:ea typeface="Helvetica Neue" pitchFamily="34" charset="-122"/>
                <a:cs typeface="Helvetica Neue" pitchFamily="34" charset="-120"/>
              </a:rPr>
              <a:t>Limitaciones</a:t>
            </a:r>
            <a:endParaRPr lang="en-US" sz="1800" dirty="0"/>
          </a:p>
        </p:txBody>
      </p:sp>
      <p:sp>
        <p:nvSpPr>
          <p:cNvPr id="6" name="Text 4"/>
          <p:cNvSpPr/>
          <p:nvPr/>
        </p:nvSpPr>
        <p:spPr>
          <a:xfrm>
            <a:off x="1145032" y="2317552"/>
            <a:ext cx="5734436" cy="1465461"/>
          </a:xfrm>
          <a:prstGeom prst="rect">
            <a:avLst/>
          </a:prstGeom>
          <a:noFill/>
          <a:ln/>
        </p:spPr>
        <p:txBody>
          <a:bodyPr wrap="square" lIns="0" tIns="0" rIns="0" bIns="0" rtlCol="0" anchor="t">
            <a:normAutofit/>
          </a:bodyPr>
          <a:lstStyle/>
          <a:p>
            <a:pPr algn="l" marL="156718" indent="-156718">
              <a:lnSpc>
                <a:spcPts val="1890"/>
              </a:lnSpc>
              <a:buSzPct val="100000"/>
              <a:buChar char="•"/>
            </a:pPr>
            <a:r>
              <a:rPr lang="en-US" sz="1400" dirty="0">
                <a:solidFill>
                  <a:srgbClr val="1B2430"/>
                </a:solidFill>
                <a:latin typeface="Helvetica Neue" pitchFamily="34" charset="0"/>
                <a:ea typeface="Helvetica Neue" pitchFamily="34" charset="-122"/>
                <a:cs typeface="Helvetica Neue" pitchFamily="34" charset="-120"/>
              </a:rPr>
              <a:t>Datos sintéticos: RBA, empleados, turnos y cuentas</a:t>
            </a:r>
            <a:endParaRPr lang="en-US" sz="1400" dirty="0"/>
          </a:p>
          <a:p>
            <a:pPr algn="l" marL="156718" indent="-156718">
              <a:lnSpc>
                <a:spcPts val="1890"/>
              </a:lnSpc>
              <a:buSzPct val="100000"/>
              <a:buChar char="•"/>
            </a:pPr>
            <a:r>
              <a:rPr lang="en-US" sz="1400" dirty="0">
                <a:solidFill>
                  <a:srgbClr val="1B2430"/>
                </a:solidFill>
                <a:latin typeface="Helvetica Neue" pitchFamily="34" charset="0"/>
                <a:ea typeface="Helvetica Neue" pitchFamily="34" charset="-122"/>
                <a:cs typeface="Helvetica Neue" pitchFamily="34" charset="-120"/>
              </a:rPr>
              <a:t>Solo 45 eventos ATO (9 en la prueba)</a:t>
            </a:r>
            <a:endParaRPr lang="en-US" sz="1400" dirty="0"/>
          </a:p>
          <a:p>
            <a:pPr algn="l" marL="156718" indent="-156718">
              <a:lnSpc>
                <a:spcPts val="1890"/>
              </a:lnSpc>
              <a:buSzPct val="100000"/>
              <a:buChar char="•"/>
            </a:pPr>
            <a:r>
              <a:rPr lang="en-US" sz="1400" dirty="0">
                <a:solidFill>
                  <a:srgbClr val="1B2430"/>
                </a:solidFill>
                <a:latin typeface="Helvetica Neue" pitchFamily="34" charset="0"/>
                <a:ea typeface="Helvetica Neue" pitchFamily="34" charset="-122"/>
                <a:cs typeface="Helvetica Neue" pitchFamily="34" charset="-120"/>
              </a:rPr>
              <a:t>Entrenamiento: 36 patrones positivos repetidos</a:t>
            </a:r>
            <a:endParaRPr lang="en-US" sz="1400" dirty="0"/>
          </a:p>
          <a:p>
            <a:pPr algn="l" marL="156718" indent="-156718">
              <a:lnSpc>
                <a:spcPts val="1890"/>
              </a:lnSpc>
              <a:buSzPct val="100000"/>
              <a:buChar char="•"/>
            </a:pPr>
            <a:r>
              <a:rPr lang="en-US" sz="1400" dirty="0">
                <a:solidFill>
                  <a:srgbClr val="1B2430"/>
                </a:solidFill>
                <a:latin typeface="Helvetica Neue" pitchFamily="34" charset="0"/>
                <a:ea typeface="Helvetica Neue" pitchFamily="34" charset="-122"/>
                <a:cs typeface="Helvetica Neue" pitchFamily="34" charset="-120"/>
              </a:rPr>
              <a:t>Is Attack IP: validez pendiente de revisar</a:t>
            </a:r>
            <a:endParaRPr lang="en-US" sz="1400" dirty="0"/>
          </a:p>
          <a:p>
            <a:pPr algn="l" marL="156718" indent="-156718">
              <a:lnSpc>
                <a:spcPts val="1890"/>
              </a:lnSpc>
              <a:buSzPct val="100000"/>
              <a:buChar char="•"/>
            </a:pPr>
            <a:r>
              <a:rPr lang="en-US" sz="1400" dirty="0">
                <a:solidFill>
                  <a:srgbClr val="1B2430"/>
                </a:solidFill>
                <a:latin typeface="Helvetica Neue" pitchFamily="34" charset="0"/>
                <a:ea typeface="Helvetica Neue" pitchFamily="34" charset="-122"/>
                <a:cs typeface="Helvetica Neue" pitchFamily="34" charset="-120"/>
              </a:rPr>
              <a:t>Horas en UTC; turnos sintéticos</a:t>
            </a:r>
            <a:endParaRPr lang="en-US" sz="1400" dirty="0"/>
          </a:p>
          <a:p>
            <a:pPr algn="l" marL="156718" indent="-156718">
              <a:lnSpc>
                <a:spcPts val="1890"/>
              </a:lnSpc>
              <a:buSzPct val="100000"/>
              <a:buChar char="•"/>
            </a:pPr>
            <a:r>
              <a:rPr lang="en-US" sz="1400" dirty="0">
                <a:solidFill>
                  <a:srgbClr val="1B2430"/>
                </a:solidFill>
                <a:latin typeface="Helvetica Neue" pitchFamily="34" charset="0"/>
                <a:ea typeface="Helvetica Neue" pitchFamily="34" charset="-122"/>
                <a:cs typeface="Helvetica Neue" pitchFamily="34" charset="-120"/>
              </a:rPr>
              <a:t>Cobertura geográfica del 11,9 %</a:t>
            </a:r>
            <a:endParaRPr lang="en-US" sz="1400" dirty="0"/>
          </a:p>
        </p:txBody>
      </p:sp>
      <p:sp>
        <p:nvSpPr>
          <p:cNvPr id="7" name="Shape 5"/>
          <p:cNvSpPr/>
          <p:nvPr/>
        </p:nvSpPr>
        <p:spPr>
          <a:xfrm>
            <a:off x="7132935" y="1811536"/>
            <a:ext cx="4243090" cy="2177852"/>
          </a:xfrm>
          <a:prstGeom prst="roundRect">
            <a:avLst>
              <a:gd name="adj" fmla="val 4519"/>
            </a:avLst>
          </a:prstGeom>
          <a:solidFill>
            <a:srgbClr val="FFFFFF"/>
          </a:solidFill>
          <a:ln w="6350">
            <a:solidFill>
              <a:srgbClr val="DDD9CF"/>
            </a:solidFill>
            <a:prstDash val="solid"/>
          </a:ln>
        </p:spPr>
      </p:sp>
      <p:sp>
        <p:nvSpPr>
          <p:cNvPr id="8" name="Text 6"/>
          <p:cNvSpPr/>
          <p:nvPr/>
        </p:nvSpPr>
        <p:spPr>
          <a:xfrm>
            <a:off x="7364710" y="2043311"/>
            <a:ext cx="389292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430"/>
                </a:solidFill>
                <a:latin typeface="Helvetica Neue" pitchFamily="34" charset="0"/>
                <a:ea typeface="Helvetica Neue" pitchFamily="34" charset="-122"/>
                <a:cs typeface="Helvetica Neue" pitchFamily="34" charset="-120"/>
              </a:rPr>
              <a:t>Plan (Fase 4)</a:t>
            </a:r>
            <a:endParaRPr lang="en-US" sz="1800" dirty="0"/>
          </a:p>
        </p:txBody>
      </p:sp>
      <p:sp>
        <p:nvSpPr>
          <p:cNvPr id="9" name="Text 7"/>
          <p:cNvSpPr/>
          <p:nvPr/>
        </p:nvSpPr>
        <p:spPr>
          <a:xfrm>
            <a:off x="7461992" y="2317552"/>
            <a:ext cx="3788024" cy="985441"/>
          </a:xfrm>
          <a:prstGeom prst="rect">
            <a:avLst/>
          </a:prstGeom>
          <a:noFill/>
          <a:ln/>
        </p:spPr>
        <p:txBody>
          <a:bodyPr wrap="square" lIns="0" tIns="0" rIns="0" bIns="0" rtlCol="0" anchor="t">
            <a:normAutofit/>
          </a:bodyPr>
          <a:lstStyle/>
          <a:p>
            <a:pPr algn="l" marL="156718" indent="-156718">
              <a:lnSpc>
                <a:spcPts val="1890"/>
              </a:lnSpc>
              <a:buSzPct val="100000"/>
              <a:buChar char="•"/>
            </a:pPr>
            <a:r>
              <a:rPr lang="en-US" sz="1400" dirty="0">
                <a:solidFill>
                  <a:srgbClr val="1B2430"/>
                </a:solidFill>
                <a:latin typeface="Helvetica Neue" pitchFamily="34" charset="0"/>
                <a:ea typeface="Helvetica Neue" pitchFamily="34" charset="-122"/>
                <a:cs typeface="Helvetica Neue" pitchFamily="34" charset="-120"/>
              </a:rPr>
              <a:t>Modelar con un árbol de decisión</a:t>
            </a:r>
            <a:endParaRPr lang="en-US" sz="1400" dirty="0"/>
          </a:p>
          <a:p>
            <a:pPr algn="l" marL="156718" indent="-156718">
              <a:lnSpc>
                <a:spcPts val="1890"/>
              </a:lnSpc>
              <a:buSzPct val="100000"/>
              <a:buChar char="•"/>
            </a:pPr>
            <a:r>
              <a:rPr lang="en-US" sz="1400" dirty="0">
                <a:solidFill>
                  <a:srgbClr val="1B2430"/>
                </a:solidFill>
                <a:latin typeface="Helvetica Neue" pitchFamily="34" charset="0"/>
                <a:ea typeface="Helvetica Neue" pitchFamily="34" charset="-122"/>
                <a:cs typeface="Helvetica Neue" pitchFamily="34" charset="-120"/>
              </a:rPr>
              <a:t>Evaluar solo con la prueba, sin sobremuestreo</a:t>
            </a:r>
            <a:endParaRPr lang="en-US" sz="1400" dirty="0"/>
          </a:p>
          <a:p>
            <a:pPr algn="l" marL="156718" indent="-156718">
              <a:lnSpc>
                <a:spcPts val="1890"/>
              </a:lnSpc>
              <a:buSzPct val="100000"/>
              <a:buChar char="•"/>
            </a:pPr>
            <a:r>
              <a:rPr lang="en-US" sz="1400" dirty="0">
                <a:solidFill>
                  <a:srgbClr val="1B2430"/>
                </a:solidFill>
                <a:latin typeface="Helvetica Neue" pitchFamily="34" charset="0"/>
                <a:ea typeface="Helvetica Neue" pitchFamily="34" charset="-122"/>
                <a:cs typeface="Helvetica Neue" pitchFamily="34" charset="-120"/>
              </a:rPr>
              <a:t>Reportar recall y F1 con cautela</a:t>
            </a:r>
            <a:endParaRPr lang="en-US" sz="1400" dirty="0"/>
          </a:p>
        </p:txBody>
      </p:sp>
      <p:sp>
        <p:nvSpPr>
          <p:cNvPr id="10" name="Text 8"/>
          <p:cNvSpPr/>
          <p:nvPr/>
        </p:nvSpPr>
        <p:spPr>
          <a:xfrm>
            <a:off x="812800" y="4170363"/>
            <a:ext cx="1088339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F6FB2"/>
                </a:solidFill>
                <a:latin typeface="Helvetica Neue" pitchFamily="34" charset="0"/>
                <a:ea typeface="Helvetica Neue" pitchFamily="34" charset="-122"/>
                <a:cs typeface="Helvetica Neue" pitchFamily="34" charset="-120"/>
              </a:rPr>
              <a:t>Conclusión:</a:t>
            </a:r>
            <a:r>
              <a:rPr lang="en-US" sz="1600" b="1" dirty="0">
                <a:solidFill>
                  <a:srgbClr val="1B2430"/>
                </a:solidFill>
                <a:latin typeface="Helvetica Neue" pitchFamily="34" charset="0"/>
                <a:ea typeface="Helvetica Neue" pitchFamily="34" charset="-122"/>
                <a:cs typeface="Helvetica Neue" pitchFamily="34" charset="-120"/>
              </a:rPr>
              <a:t> este trabajo prepara y describe los datos; no demuestra capacidad predictiva.</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0"/>
                </a:solidFill>
                <a:latin typeface="Helvetica Neue" pitchFamily="34" charset="0"/>
                <a:ea typeface="Helvetica Neue" pitchFamily="34" charset="-122"/>
                <a:cs typeface="Helvetica Neue" pitchFamily="34" charset="-120"/>
              </a:rPr>
              <a:t>Pitch Minería de Datos · CRISP-DM · 8/8</a:t>
            </a:r>
            <a:endParaRPr lang="en-US" sz="1200" dirty="0"/>
          </a:p>
        </p:txBody>
      </p:sp>
    </p:spTree>
  </p:cSld>
  <p:clrMapOvr>
    <a:masterClrMapping/>
  </p:clrMapOvr>
</p:sld>
</file>

<file path=ppt/theme/theme1.xml><?xml version="1.0" encoding="utf-8"?>
<a:theme xmlns:a="http://schemas.openxmlformats.org/drawingml/2006/main" name="Pitch Minería de Datos — Detección de Account Takeover (CRISP-DM)">
  <a:themeElements>
    <a:clrScheme name="Pitch Minería de Datos — Detección de Account Takeover (CRISP-DM)">
      <a:dk1>
        <a:srgbClr val="1B2430"/>
      </a:dk1>
      <a:lt1>
        <a:srgbClr val="F7F6F2"/>
      </a:lt1>
      <a:dk2>
        <a:srgbClr val="525961"/>
      </a:dk2>
      <a:lt2>
        <a:srgbClr val="E1E1DF"/>
      </a:lt2>
      <a:accent1>
        <a:srgbClr val="B84A00"/>
      </a:accent1>
      <a:accent2>
        <a:srgbClr val="F2B27A"/>
      </a:accent2>
      <a:accent3>
        <a:srgbClr val="4A5563"/>
      </a:accent3>
      <a:accent4>
        <a:srgbClr val="5A6370"/>
      </a:accent4>
      <a:accent5>
        <a:srgbClr val="D5D9DF"/>
      </a:accent5>
      <a:accent6>
        <a:srgbClr val="B8C0CB"/>
      </a:accent6>
      <a:hlink>
        <a:srgbClr val="0563C1"/>
      </a:hlink>
      <a:folHlink>
        <a:srgbClr val="954F72"/>
      </a:folHlink>
    </a:clrScheme>
    <a:fontScheme name="Pitch Minería de Datos — Detección de Account Takeover (CRISP-DM)">
      <a:majorFont>
        <a:latin typeface="Helvetica Ne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 Minería de Datos — Detección de Account Takeover (CRISP-DM)</dc:title>
  <dc:subject/>
  <dc:creator/>
  <cp:lastModifiedBy/>
  <cp:revision>1</cp:revision>
  <dcterms:created xsi:type="dcterms:W3CDTF">2026-10-26T02:45:06Z</dcterms:created>
  <dcterms:modified xsi:type="dcterms:W3CDTF">2026-10-26T02:45:06Z</dcterms:modified>
</cp:coreProperties>
</file>